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ริ่มต้น" id="{63641469-4ef1-ddbb-64aa-2ffd487afadf}">
          <p14:sldIdLst>
            <p14:sldId id="256"/>
            <p14:sldId id="257"/>
            <p14:sldId id="258"/>
            <p14:sldId id="259"/>
          </p14:sldIdLst>
        </p14:section>
        <p14:section name="ทีละหน้า" id="{5f74fed3-fb83-a766-e169-f8b9329469ec}">
          <p14:sldIdLst>
            <p14:sldId id="260"/>
            <p14:sldId id="261"/>
            <p14:sldId id="262"/>
            <p14:sldId id="263"/>
            <p14:sldId id="264"/>
          </p14:sldIdLst>
        </p14:section>
        <p14:section name="เข้าใจตัวเลข" id="{f65f9a99-5234-395d-042c-4cbf5307272a}">
          <p14:sldIdLst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คู่มือนี้ครอบคลุมการใช้งานทั้ง 4 หน้าของระบบ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อธิบายภาพรวมว่าทำไมต้องมีระบบนี้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ย้ำว่าช่วงวันที่ไม่มีผลกับหน้าค้างรับ เพราะยอดค้างคิด ณ ปัจจุบันเสมอ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จุดขายของหน้านี้คือ drilldown ที่เห็นการจับคู่ PO กับใบรับเข้า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เน้นว่า เกินกำหนด กับ ช้า เป็นคนละเรื่องกัน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 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4904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chemeClr val="accent2"/>
                </a:solidFill>
              </a:rPr>
              <a:t> 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D7E2F5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D7E2F5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ระบบรายงานจัดซื้อ ROMAR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 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</a:t>
            </a:r>
            <a:endParaRPr lang="en-US" sz="14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ระบบรายงานจัดซื้อ ROMAR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คู่มือการใช้งาน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ระบบรายงานจัดซื้อ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49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2"/>
                </a:solidFill>
              </a:rPr>
              <a:t>ดูได้ว่าสั่งซื้อไปเท่าไหร่ ของเข้ามาแล้วเท่าไหร่ และยังค้างอยู่เท่าไหร่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สำหรับฝ่ายจัดซื้อ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ระบบนี้มีไว้ทำอะไร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DECEA"/>
          </a:solidFill>
          <a:ln w="12700">
            <a:solidFill>
              <a:srgbClr val="F5C6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ปัญหาเดิม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จัดซื้อไม่เห็นว่าของเข้ามาหรือยัง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เปิดใบสั่งซื้อแล้วของไปเข้าที่สต็อก เอกสารรับเข้าวิ่งตรงไปบัญชี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จัดซื้อจึงไม่รู้ว่าของมาถึงเมื่อไหร่ มาครบไหม และยังค้างเท่าไหร่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7F4EC"/>
          </a:solidFill>
          <a:ln w="12700">
            <a:solidFill>
              <a:srgbClr val="BEE0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ระบบนี้ช่วย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เห็นครบในหน้าจอเดียว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2402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ดึงข้อมูลจากระบบ ERP มาจับคู่ใบสั่งซื้อกับใบรับเข้าให้อัตโนมัติ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เลือกช่วงเวลาเองได้ และดาวน์โหลดเป็น Excel ไปใช้ต่อได้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คำถามที่ระบบตอบได้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11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3159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วันนี้ของเข้ามาอะไรบ้าง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736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จาก PO ใบไหน มูลค่าเท่าไหร่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51960" y="4114800"/>
            <a:ext cx="3611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43159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เดือนนี้สั่งไปกี่บาท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736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และรับเข้ามาแล้วกี่บาท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4114800"/>
            <a:ext cx="3611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43159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ตอนนี้ค้างรับเท่าไหร่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4736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ใบไหนเลยกำหนดส่งแล้วบ้าง</a:t>
            </a:r>
            <a:endParaRPr lang="en-US" sz="1300" dirty="0"/>
          </a:p>
        </p:txBody>
      </p:sp>
      <p:sp>
        <p:nvSpPr>
          <p:cNvPr id="22" name="Text 0"/>
          <p:cNvSpPr/>
          <p:nvPr>
            <p:ph idx="101" type="body" hasCustomPrompt="1"/>
          </p:nvPr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เข้าใช้งานยังไง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http://192.168.2.75:8080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9339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DCF2"/>
                </a:solidFill>
              </a:rPr>
              <a:t>เปิดจากเบราว์เซอร์ในเครื่องที่อยู่ในวงแลนบริษัท  ไม่ต้องติดตั้งโปรแกรมอะไร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ระบบมี 4 หน้า สลับด้วยแท็บด้านบน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26974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3558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364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587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ภาพรวม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06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ตัวเลขสรุปและกราฟ 12 เดือน  เป็นหน้าแรกที่เปิดขึ้นมา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3154680"/>
            <a:ext cx="26974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33558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66160" y="3364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8587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สั่งซื้อ (PO)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4206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ใบสั่งซื้อตามช่วงเวลา คลิกดูได้ว่าของมาแล้วหรือยัง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154680"/>
            <a:ext cx="26974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33558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55080" y="3364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8587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ใบรับเข้า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4206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ของที่เข้ามาจริงในแต่ละวัน พร้อมรายการสินค้า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15400" y="3154680"/>
            <a:ext cx="26974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0" y="33558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144000" y="3364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38587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ค้างรับ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4206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ของที่สั่งแล้วยังไม่ได้รับ เรียงตามกำหนดส่ง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4132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008"/>
                </a:solidFill>
              </a:rPr>
              <a:t>ข้อมูลไม่ได้อัปเดตเอง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5833872"/>
            <a:ext cx="10607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5008"/>
                </a:solidFill>
              </a:rPr>
              <a:t>กดปุ่ม "อัปเดตข้อมูลจาก ERP" มุมขวาบน ใช้เวลาประมาณ 20 วินาที  ถ้าไม่กด ตัวเลขจะเป็นของรอบที่อัปเดตล่าสุด</a:t>
            </a:r>
            <a:endParaRPr lang="en-US" sz="1200" dirty="0"/>
          </a:p>
        </p:txBody>
      </p:sp>
      <p:sp>
        <p:nvSpPr>
          <p:cNvPr id="34" name="Text 0"/>
          <p:cNvSpPr/>
          <p:nvPr>
            <p:ph idx="101" type="body" hasCustomPrompt="1"/>
          </p:nvPr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แถบควบคุมด้านบน  ใช้ได้ทุกหน้า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1609344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93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ตั้งแต่ / ถึง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149961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เลือกช่วงวันที่เอง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828800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หน้าภาพรวม สั่งซื้อ และใบรับเข้าจะกรองตามช่วงนี้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55117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587752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87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ปุ่มลัด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47802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 วัน · 30 วัน · เดือนนี้ · เดือนที่แล้ว · ปีนี้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80720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กดทีเดียวได้ช่วงที่ใช้บ่อย ไม่ต้องเลือกวันที่เอง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529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5661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ผู้ขาย / ผู้สั่งซื้อ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34564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กรองเฉพาะรายที่สนใจ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3785616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เช่น ดูเฉพาะของที่ตัวเองเป็นคนสั่ง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06824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507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7240" y="4544568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5445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ค้นหา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063240" y="44348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พิมพ์รหัสสินค้า ชื่อสินค้า หรือเลขที่ PO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063240" y="4764024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ค้นได้บางส่วนของคำ ไม่ต้องพิมพ์เต็ม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285232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486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77240" y="5522976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5229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ดาวน์โหลด Excel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063240" y="54132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ได้ไฟล์ตามหน้าและตัวกรองที่เลือกอยู่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063240" y="5742432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เปิดด้วย Excel ได้เลย มีหัวตารางตรึงและตัวกรองให้พร้อม</a:t>
            </a:r>
            <a:endParaRPr lang="en-US" sz="1200" dirty="0"/>
          </a:p>
        </p:txBody>
      </p:sp>
      <p:sp>
        <p:nvSpPr>
          <p:cNvPr id="34" name="Text 0"/>
          <p:cNvSpPr/>
          <p:nvPr>
            <p:ph idx="101" type="body" hasCustomPrompt="1"/>
          </p:nvPr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หน้าภาพรวม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ตัวเลขสรุปของช่วงที่เลือก และกราฟเทียบยอดสั่งกับยอดรับย้อนหลัง 12 เดือน</a:t>
            </a:r>
            <a:endParaRPr lang="en-US" sz="1400" dirty="0"/>
          </a:p>
        </p:txBody>
      </p:sp>
      <p:pic>
        <p:nvPicPr>
          <p:cNvPr id="4" name="Image 0" descr="E:\purchase-PO-PR\docs\images\01-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132320" cy="4754880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9AA6B8">
                <a:alpha val="4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955280" y="160020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600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302752" y="1554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การ์ดตัวเลข 6 ใบ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สรุปยอดของช่วงที่เลือก กดเข้าไปดูตารางได้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55280" y="251460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55280" y="2514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302752" y="24688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กราฟ 12 เดือน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แท่งเข้ม = ยอดสั่งซื้อ  แท่งอ่อน = ยอดรับเข้า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เดือนล่าสุดอยู่ซ้ายสุด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55280" y="374904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3749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302752" y="3703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คลิกแท่งกราฟได้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คลิกแล้วเด้งไปดูรายการของเดือนนั้นทันที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55280" y="466344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4663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302752" y="4617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ตรวจคุณภาพข้อมูล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แจ้งเตือนถ้าเจอข้อมูลผิดปกติในระบบ ERP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การ์ดตัวเลข 6 ใบ  หมายถึงอะไร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มูลค่าสั่งซื้อในช่วง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9339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ยอดที่เปิดใบสั่งซื้อในช่วงที่เลือก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632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คลิก → หน้าสั่งซื้อ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37160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727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มูลค่ารับเข้าในช่วง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99339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ของที่เข้ามาจริงในช่วงนั้น อาจมาจาก PO เดือนก่อนก็ได้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30632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คลิก → หน้าใบรับเข้า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37160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727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ส่งคืนในช่วง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99339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ของที่ส่งคืนผู้ขาย แสดงเป็นจำนวนติดลบ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30632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คลิก → หน้าใบรับเข้า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950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ค้างรับทั้งหมด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37083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ของที่สั่งแล้วยังไม่ได้รับ คิด ณ ปัจจุบัน ไม่ขึ้นกับช่วงวันที่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4406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คลิก → หน้าค้างรับ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37490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3950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ค้างเกินกำหนด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437083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ส่วนของยอดค้างที่เลยวันกำหนดส่งมาแล้ว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54406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คลิก → ค้างรับ + กรองเฉพาะที่เกิน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0" y="37490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83880" y="3950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ส่งตรงเวลา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437083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สัดส่วนใบรับที่มาถึงไม่เกินกำหนดส่ง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54406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ไม่สามารถคลิกได้</a:t>
            </a:r>
            <a:endParaRPr lang="en-US" sz="1100" dirty="0"/>
          </a:p>
        </p:txBody>
      </p:sp>
      <p:sp>
        <p:nvSpPr>
          <p:cNvPr id="27" name="Text 0"/>
          <p:cNvSpPr/>
          <p:nvPr>
            <p:ph idx="101" type="body" hasCustomPrompt="1"/>
          </p:nvPr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หน้าสั่งซื้อ (PO)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ใบสั่งซื้อตามช่วงเวลา  คลิกที่เลขที่ PO เพื่อดูว่าของมาแล้วหรือยัง</a:t>
            </a:r>
            <a:endParaRPr lang="en-US" sz="1400" dirty="0"/>
          </a:p>
        </p:txBody>
      </p:sp>
      <p:pic>
        <p:nvPicPr>
          <p:cNvPr id="4" name="Image 0" descr="E:\purchase-PO-PR\docs\images\02-p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132320" cy="4754880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9AA6B8">
                <a:alpha val="4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955280" y="160020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600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302752" y="1554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หนึ่งแถว = หนึ่งใบสั่งซื้อ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คอลัมน์ รายการ บอกว่าใบนั้นมีกี่สินค้า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55280" y="251460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55280" y="2514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302752" y="24688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คลิกเลขที่ PO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กางลงมาเห็น 2 ตาราง คือรายการในใบสั่งซื้อ และใบรับเข้าที่อ้างถึง PO นี้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55280" y="388620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3886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302752" y="38404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เรียงตาม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ตั้งต้นที่รับเข้าล่าสุด จะได้รู้ว่าช่วงนี้ของเข้าของใบไหนไปแล้ว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55280" y="5074920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5074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302752" y="5029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แถวสีแดง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เลยกำหนดส่งแล้วแต่ยังรับไม่ครบ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หน้าใบรับเข้า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ของที่เข้ามาจริงในช่วงที่เลือก  คลิกที่เลขที่ใบรับเพื่อดูรายการสินค้า</a:t>
            </a:r>
            <a:endParaRPr lang="en-US" sz="1400" dirty="0"/>
          </a:p>
        </p:txBody>
      </p:sp>
      <p:pic>
        <p:nvPicPr>
          <p:cNvPr id="4" name="Image 0" descr="E:\purchase-PO-PR\docs\images\03-receip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132320" cy="4754880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9AA6B8">
                <a:alpha val="4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955280" y="160020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600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302752" y="1554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หนึ่งแถว = หนึ่งใบรับ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คอลัมน์ รายการ บอกว่าใบนั้นรับกี่สินค้า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55280" y="251460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55280" y="2514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302752" y="24688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ประเภท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รับเข้าซื้อ คือของเข้า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ส่งคืนผู้ขาย คือของที่คืนไป จำนวนจะติดลบ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55280" y="379476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3794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302752" y="37490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ช้า (วัน)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ของมาช้ากว่ากำหนดกี่วัน  ค่าติดลบ = มาก่อนกำหนด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55280" y="489204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4892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302752" y="4846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เอกสารผู้ขาย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เลขที่ใบส่งของของผู้ขาย ใช้กระทบยอดกับบิลได้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หน้าค้างรับ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ของที่สั่งแล้วยังไม่ได้รับ  เรียงตามกำหนดส่ง ใบที่ต้องตามก่อนอยู่บนสุด</a:t>
            </a:r>
            <a:endParaRPr lang="en-US" sz="1400" dirty="0"/>
          </a:p>
        </p:txBody>
      </p:sp>
      <p:pic>
        <p:nvPicPr>
          <p:cNvPr id="4" name="Image 0" descr="E:\purchase-PO-PR\docs\images\04-op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132320" cy="4754880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9AA6B8">
                <a:alpha val="4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955280" y="160020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600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302752" y="15544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ไม่ขึ้นกับช่วงวันที่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ยอดค้างคิด ณ ปัจจุบันเสมอ เปลี่ยนวันที่ด้านบนแล้วตัวเลขไม่เปลี่ยน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55280" y="2971800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55280" y="2971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302752" y="29260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แถวสีแดง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เลยกำหนดส่งแล้ว ดูคอลัมน์ เกินกำหนด(วัน) ว่าช้ามากี่วัน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55280" y="416052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4160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302752" y="41148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เฉพาะที่เกินกำหนด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ติ๊กช่องนี้เพื่อดูเฉพาะใบที่ต้องรีบตาม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55280" y="516636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51663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302752" y="51206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คลิกเลขที่ PO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ดูรายการและใบรับเข้าที่ผ่านมา ก่อนโทรตามผู้ขาย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เข้าใจตัวเลขให้ถูก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E2F5"/>
                </a:solidFill>
              </a:rPr>
              <a:t>4 เรื่องที่คนมักเข้าใจผิด และทำให้อ่านรายงานพลาด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 เรื่องที่ต้องแยกให้ออก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ของยังไม่มา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เกินกำหนด (วัน)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นับจากวันกำหนดส่งถึงวันนี้ ตัวเลขจะเพิ่มขึ้นทุกวันจนกว่าของจะมา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ของมาแล้ว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ช้า (วัน)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24028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มาช้ากว่ากำหนดกี่วัน ค่าติดลบแปลว่ามาก่อนกำหนด เป็นค่าที่หยุดนิ่งแล้ว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8679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จบงานแล้ว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ปิด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720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จัดซื้อกดปิดในระบบ ERP หรือรับครบแล้ว  ใบที่ปิดจะไม่อยู่ในยอดค้างรับ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70332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8679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ยังต้องตาม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ค้างรับ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5720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ยังไม่ปิดและยังได้ของไม่ครบ  นี่คือตัวเลขที่ต้องลงมือทำอะไรสักอย่าง</a:t>
            </a:r>
            <a:endParaRPr lang="en-US" sz="1300" dirty="0"/>
          </a:p>
        </p:txBody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ข้อจำกัดที่ควรรู้ก่อนใช้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DF3E2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329184" cy="329184"/>
          </a:xfrm>
          <a:prstGeom prst="ellipse">
            <a:avLst/>
          </a:prstGeom>
          <a:solidFill>
            <a:srgbClr val="B4690E"/>
          </a:solidFill>
          <a:ln w="12700">
            <a:solidFill>
              <a:srgbClr val="B4690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3619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606"/>
                </a:solidFill>
              </a:rPr>
              <a:t>ข้อมูลย้อนหลังได้ถึงปี 2024 เท่านั้น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019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5008"/>
                </a:solidFill>
              </a:rPr>
              <a:t>ข้อมูลปี 2021 ถึง 2023 สูญหายจากไวรัสเรียกค่าไถ่ กู้คืนไม่ได้ กราฟ 12 เดือนและรายงานทุกตัวจึงเริ่มนับจากปี 2024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DF3E2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77977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962656"/>
            <a:ext cx="329184" cy="329184"/>
          </a:xfrm>
          <a:prstGeom prst="ellipse">
            <a:avLst/>
          </a:prstGeom>
          <a:solidFill>
            <a:srgbClr val="B4690E"/>
          </a:solidFill>
          <a:ln w="12700">
            <a:solidFill>
              <a:srgbClr val="B4690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7432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606"/>
                </a:solidFill>
              </a:rPr>
              <a:t>ตัวเลขไม่ได้สดตลอดเวลา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089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5008"/>
                </a:solidFill>
              </a:rPr>
              <a:t>ระบบคัดลอกข้อมูลจาก ERP มาเก็บไว้ ถ้าเพิ่งมีการบันทึกรับของเมื่อสักครู่ ต้องกดปุ่มอัปเดตก่อนจึงจะเห็น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8561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DF3E2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9867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169664"/>
            <a:ext cx="329184" cy="329184"/>
          </a:xfrm>
          <a:prstGeom prst="ellipse">
            <a:avLst/>
          </a:prstGeom>
          <a:solidFill>
            <a:srgbClr val="B4690E"/>
          </a:solidFill>
          <a:ln w="12700">
            <a:solidFill>
              <a:srgbClr val="B4690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169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95020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606"/>
                </a:solidFill>
              </a:rPr>
              <a:t>ยังไม่มีระบบล็อกอิน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3159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5008"/>
                </a:solidFill>
              </a:rPr>
              <a:t>ใครก็ตามที่เปิด URL นี้ได้จะเห็นข้อมูลจัดซื้อทั้งหมด รวมถึงราคาซื้อและรายชื่อผู้ขาย ใช้ภายในวงแลนบริษัทเท่านั้น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992624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DF3E2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1937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" y="5376672"/>
            <a:ext cx="329184" cy="329184"/>
          </a:xfrm>
          <a:prstGeom prst="ellipse">
            <a:avLst/>
          </a:prstGeom>
          <a:solidFill>
            <a:srgbClr val="B4690E"/>
          </a:solidFill>
          <a:ln w="12700">
            <a:solidFill>
              <a:srgbClr val="B4690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376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15721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606"/>
                </a:solidFill>
              </a:rPr>
              <a:t>รับเกินจำนวนที่สั่งเป็นเรื่องปกติ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52297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5008"/>
                </a:solidFill>
              </a:rPr>
              <a:t>งานผ้าและม้วนตัดไม่ลงตัว ระบบจึงแสดงสถานะรับเกินได้โดยไม่ถือเป็นข้อผิดพลาด</a:t>
            </a:r>
            <a:endParaRPr lang="en-US" sz="1250" dirty="0"/>
          </a:p>
        </p:txBody>
      </p:sp>
      <p:sp>
        <p:nvSpPr>
          <p:cNvPr id="27" name="Text 0"/>
          <p:cNvSpPr/>
          <p:nvPr>
            <p:ph idx="101" type="body" hasCustomPrompt="1"/>
          </p:nvPr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เริ่มใช้ได้เลย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49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2"/>
                </a:solidFill>
              </a:rPr>
              <a:t>เปิด http://192.168.2.75:8080 จากเบราว์เซอร์ในวงแลนบริษัท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22365C"/>
          </a:solidFill>
          <a:ln w="12700">
            <a:solidFill>
              <a:srgbClr val="3550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5193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ทุกเช้า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552297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F"/>
                </a:solidFill>
              </a:rPr>
              <a:t>เปิดหน้าใบรับเข้า ดูว่าเมื่อวานของอะไรมาบ้าง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17720" y="50292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22365C"/>
          </a:solidFill>
          <a:ln w="12700">
            <a:solidFill>
              <a:srgbClr val="35507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5193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ทุกสัปดาห์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552297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F"/>
                </a:solidFill>
              </a:rPr>
              <a:t>เปิดหน้าค้างรับ ติ๊กเฉพาะที่เกินกำหนด แล้วไล่ตาม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0" y="50292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22365C"/>
          </a:solidFill>
          <a:ln w="12700">
            <a:solidFill>
              <a:srgbClr val="35507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41080" y="5193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สิ้นเดือน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552297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F"/>
                </a:solidFill>
              </a:rPr>
              <a:t>หน้าภาพรวม ดูยอดสั่งเทียบยอดรับ แล้วโหลด Excel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343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มีปัญหาหรืออยากให้เพิ่มอะไร แจ้งได้ที่ฝ่าย 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mar Purchase">
  <a:themeElements>
    <a:clrScheme name="Romar Purchase">
      <a:dk1>
        <a:srgbClr val="16243D"/>
      </a:dk1>
      <a:lt1>
        <a:srgbClr val="FFFFFF"/>
      </a:lt1>
      <a:dk2>
        <a:srgbClr val="2F5496"/>
      </a:dk2>
      <a:lt2>
        <a:srgbClr val="EDF1F8"/>
      </a:lt2>
      <a:accent1>
        <a:srgbClr val="2F5496"/>
      </a:accent1>
      <a:accent2>
        <a:srgbClr val="7AA0DD"/>
      </a:accent2>
      <a:accent3>
        <a:srgbClr val="C0392B"/>
      </a:accent3>
      <a:accent4>
        <a:srgbClr val="1B7F4B"/>
      </a:accent4>
      <a:accent5>
        <a:srgbClr val="B4690E"/>
      </a:accent5>
      <a:accent6>
        <a:srgbClr val="6B7684"/>
      </a:accent6>
      <a:hlink>
        <a:srgbClr val="2F5496"/>
      </a:hlink>
      <a:folHlink>
        <a:srgbClr val="6B7684"/>
      </a:folHlink>
    </a:clrScheme>
    <a:fontScheme name="Romar Purchase">
      <a:majorFont>
        <a:latin typeface="Tahoma"/>
        <a:ea typeface=""/>
        <a:cs typeface="Tahoma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Tahoma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คู่มือการใช้งาน ระบบรายงานจัดซื้อ</dc:title>
  <dc:subject>PptxGenJS Presentation</dc:subject>
  <dc:creator>ฝ่ายจัดซื้อ</dc:creator>
  <cp:lastModifiedBy>ฝ่ายจัดซื้อ</cp:lastModifiedBy>
  <cp:revision>1</cp:revision>
  <dcterms:created xsi:type="dcterms:W3CDTF">2026-10-05T05:47:35Z</dcterms:created>
  <dcterms:modified xsi:type="dcterms:W3CDTF">2026-10-05T05:47:35Z</dcterms:modified>
</cp:coreProperties>
</file>